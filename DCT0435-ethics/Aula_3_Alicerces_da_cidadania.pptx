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12A-5E3D-428E-8ADB-0750292AD603}" type="datetimeFigureOut">
              <a:rPr lang="pt-BR" smtClean="0"/>
              <a:t>19/04/2014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BEF3-A9FE-4E93-842B-6DE93EA373B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12A-5E3D-428E-8ADB-0750292AD603}" type="datetimeFigureOut">
              <a:rPr lang="pt-BR" smtClean="0"/>
              <a:t>19/04/2014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BEF3-A9FE-4E93-842B-6DE93EA373BC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12A-5E3D-428E-8ADB-0750292AD603}" type="datetimeFigureOut">
              <a:rPr lang="pt-BR" smtClean="0"/>
              <a:t>19/04/2014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BEF3-A9FE-4E93-842B-6DE93EA373B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12A-5E3D-428E-8ADB-0750292AD603}" type="datetimeFigureOut">
              <a:rPr lang="pt-BR" smtClean="0"/>
              <a:t>19/04/2014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BEF3-A9FE-4E93-842B-6DE93EA373BC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12A-5E3D-428E-8ADB-0750292AD603}" type="datetimeFigureOut">
              <a:rPr lang="pt-BR" smtClean="0"/>
              <a:t>19/04/2014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BEF3-A9FE-4E93-842B-6DE93EA373B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12A-5E3D-428E-8ADB-0750292AD603}" type="datetimeFigureOut">
              <a:rPr lang="pt-BR" smtClean="0"/>
              <a:t>19/04/2014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BEF3-A9FE-4E93-842B-6DE93EA373B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12A-5E3D-428E-8ADB-0750292AD603}" type="datetimeFigureOut">
              <a:rPr lang="pt-BR" smtClean="0"/>
              <a:t>19/04/2014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BEF3-A9FE-4E93-842B-6DE93EA373B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12A-5E3D-428E-8ADB-0750292AD603}" type="datetimeFigureOut">
              <a:rPr lang="pt-BR" smtClean="0"/>
              <a:t>19/04/2014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BEF3-A9FE-4E93-842B-6DE93EA373BC}" type="slidenum">
              <a:rPr lang="pt-BR" smtClean="0"/>
              <a:t>‹nº›</a:t>
            </a:fld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12A-5E3D-428E-8ADB-0750292AD603}" type="datetimeFigureOut">
              <a:rPr lang="pt-BR" smtClean="0"/>
              <a:t>19/04/2014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BEF3-A9FE-4E93-842B-6DE93EA373BC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12A-5E3D-428E-8ADB-0750292AD603}" type="datetimeFigureOut">
              <a:rPr lang="pt-BR" smtClean="0"/>
              <a:t>19/04/2014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BEF3-A9FE-4E93-842B-6DE93EA373B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12A-5E3D-428E-8ADB-0750292AD603}" type="datetimeFigureOut">
              <a:rPr lang="pt-BR" smtClean="0"/>
              <a:t>19/04/2014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BEF3-A9FE-4E93-842B-6DE93EA373BC}" type="slidenum">
              <a:rPr lang="pt-BR" smtClean="0"/>
              <a:t>‹nº›</a:t>
            </a:fld>
            <a:endParaRPr lang="pt-BR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AF7212A-5E3D-428E-8ADB-0750292AD603}" type="datetimeFigureOut">
              <a:rPr lang="pt-BR" smtClean="0"/>
              <a:t>19/04/2014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976ABEF3-A9FE-4E93-842B-6DE93EA373BC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1196752"/>
            <a:ext cx="7772400" cy="1031428"/>
          </a:xfrm>
        </p:spPr>
        <p:txBody>
          <a:bodyPr/>
          <a:lstStyle/>
          <a:p>
            <a:r>
              <a:rPr lang="pt-BR" dirty="0" smtClean="0"/>
              <a:t>RESPONSABILIDADE SOCIAL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11560" y="3140968"/>
            <a:ext cx="7920880" cy="1473200"/>
          </a:xfrm>
        </p:spPr>
        <p:txBody>
          <a:bodyPr>
            <a:noAutofit/>
          </a:bodyPr>
          <a:lstStyle/>
          <a:p>
            <a:r>
              <a:rPr lang="pt-BR" sz="3800" b="1" dirty="0" smtClean="0">
                <a:solidFill>
                  <a:schemeClr val="tx2"/>
                </a:solidFill>
              </a:rPr>
              <a:t>Aula 3</a:t>
            </a:r>
          </a:p>
          <a:p>
            <a:r>
              <a:rPr lang="pt-BR" sz="3800" b="1" dirty="0" smtClean="0">
                <a:solidFill>
                  <a:schemeClr val="tx2"/>
                </a:solidFill>
              </a:rPr>
              <a:t>ALICERCES DA CIDADANIA</a:t>
            </a:r>
            <a:endParaRPr lang="pt-BR" sz="3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778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323528" y="2348881"/>
            <a:ext cx="8496943" cy="2016224"/>
          </a:xfrm>
        </p:spPr>
        <p:txBody>
          <a:bodyPr>
            <a:normAutofit/>
          </a:bodyPr>
          <a:lstStyle/>
          <a:p>
            <a:r>
              <a:rPr lang="pt-BR" b="1" dirty="0"/>
              <a:t>Moral </a:t>
            </a:r>
            <a:r>
              <a:rPr lang="pt-BR" dirty="0" smtClean="0"/>
              <a:t>é</a:t>
            </a:r>
            <a:r>
              <a:rPr lang="pt-BR" dirty="0"/>
              <a:t>, basicamente, </a:t>
            </a:r>
            <a:r>
              <a:rPr lang="pt-BR" dirty="0" smtClean="0"/>
              <a:t>aquilo </a:t>
            </a:r>
            <a:r>
              <a:rPr lang="pt-BR" dirty="0"/>
              <a:t>que é realmente mais importante para mim. </a:t>
            </a:r>
            <a:r>
              <a:rPr lang="pt-BR" dirty="0" smtClean="0"/>
              <a:t>Qual </a:t>
            </a:r>
            <a:r>
              <a:rPr lang="pt-BR" dirty="0"/>
              <a:t>é a distinção que faço entre o bem e o mal? </a:t>
            </a:r>
          </a:p>
          <a:p>
            <a:r>
              <a:rPr lang="pt-BR" dirty="0" smtClean="0"/>
              <a:t>Ela orienta </a:t>
            </a:r>
            <a:r>
              <a:rPr lang="pt-BR" dirty="0"/>
              <a:t>os posicionamentos que assumimos em função das decisões que tomamos a cada instante de nossa vida. 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MORAL E ÉTICA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4365104"/>
            <a:ext cx="3131840" cy="2346792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3491880" y="4365104"/>
            <a:ext cx="221399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Moral tem sua origem no latim, que vem de “mores”, significando </a:t>
            </a:r>
            <a:r>
              <a:rPr lang="pt-BR" sz="2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costumes.</a:t>
            </a:r>
            <a:r>
              <a:rPr lang="pt-BR" dirty="0"/>
              <a:t>	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365104"/>
            <a:ext cx="3240360" cy="225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30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899592" y="2456214"/>
            <a:ext cx="7408333" cy="969557"/>
          </a:xfrm>
        </p:spPr>
        <p:txBody>
          <a:bodyPr>
            <a:normAutofit/>
          </a:bodyPr>
          <a:lstStyle/>
          <a:p>
            <a:r>
              <a:rPr lang="pt-BR" b="1" dirty="0"/>
              <a:t>Ética </a:t>
            </a:r>
            <a:r>
              <a:rPr lang="pt-BR" dirty="0"/>
              <a:t>é </a:t>
            </a:r>
            <a:r>
              <a:rPr lang="pt-BR" dirty="0" smtClean="0"/>
              <a:t>a </a:t>
            </a:r>
            <a:r>
              <a:rPr lang="pt-BR" dirty="0"/>
              <a:t>maneira de pôr em prática os valores morais. É a forma de traduzir a moral em atos. 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MORAL E ÉTICA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468753"/>
            <a:ext cx="3384376" cy="271019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3635896" y="3480406"/>
            <a:ext cx="163792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Ética vem do grego “</a:t>
            </a:r>
            <a:r>
              <a:rPr lang="pt-BR" sz="2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ethos</a:t>
            </a:r>
            <a:r>
              <a:rPr lang="pt-BR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” que significa modo de </a:t>
            </a:r>
            <a:r>
              <a:rPr lang="pt-BR" sz="2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ser.</a:t>
            </a:r>
            <a:r>
              <a:rPr lang="pt-BR" dirty="0"/>
              <a:t>	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480406"/>
            <a:ext cx="3456384" cy="276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50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899592" y="2348880"/>
            <a:ext cx="7408333" cy="3450696"/>
          </a:xfrm>
        </p:spPr>
        <p:txBody>
          <a:bodyPr/>
          <a:lstStyle/>
          <a:p>
            <a:r>
              <a:rPr lang="pt-BR" sz="3200" dirty="0" smtClean="0"/>
              <a:t>QUERO</a:t>
            </a:r>
          </a:p>
          <a:p>
            <a:r>
              <a:rPr lang="pt-BR" sz="3200" dirty="0" smtClean="0"/>
              <a:t>POSSO</a:t>
            </a:r>
          </a:p>
          <a:p>
            <a:r>
              <a:rPr lang="pt-BR" sz="3200" dirty="0" smtClean="0"/>
              <a:t>DEVO</a:t>
            </a:r>
          </a:p>
          <a:p>
            <a:pPr lvl="1"/>
            <a:r>
              <a:rPr lang="pt-BR" sz="2800" dirty="0" smtClean="0"/>
              <a:t>Nem tudo o que posso e quero, eu devo;</a:t>
            </a:r>
          </a:p>
          <a:p>
            <a:pPr lvl="1"/>
            <a:r>
              <a:rPr lang="pt-BR" sz="2800" dirty="0" smtClean="0"/>
              <a:t>Nem tudo o que quero e devo, eu posso;</a:t>
            </a:r>
          </a:p>
          <a:p>
            <a:pPr lvl="1"/>
            <a:r>
              <a:rPr lang="pt-BR" sz="2800" dirty="0" smtClean="0"/>
              <a:t>Nem tudo o que posso e devo, eu quero.</a:t>
            </a:r>
            <a:endParaRPr lang="pt-BR" sz="280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ÉTICA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466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MORAL, ÉTICA E CARÁTER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788" y="2564904"/>
            <a:ext cx="3816424" cy="376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6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899592" y="2420888"/>
            <a:ext cx="7408333" cy="1473613"/>
          </a:xfrm>
        </p:spPr>
        <p:txBody>
          <a:bodyPr>
            <a:normAutofit lnSpcReduction="10000"/>
          </a:bodyPr>
          <a:lstStyle/>
          <a:p>
            <a:r>
              <a:rPr lang="pt-BR" b="1" i="1" dirty="0" smtClean="0"/>
              <a:t>Ética </a:t>
            </a:r>
            <a:r>
              <a:rPr lang="pt-BR" b="1" i="1" dirty="0"/>
              <a:t>do interesse próprio </a:t>
            </a:r>
            <a:r>
              <a:rPr lang="pt-BR" dirty="0"/>
              <a:t>– o indivíduo proporciona algo ao outro, porque é de seu interesse fazê-lo. Trata-se, portanto, de uma ética, onde ter vantagem é o valor mais importante. </a:t>
            </a:r>
            <a:endParaRPr lang="pt-BR" dirty="0" smtClean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Ética nas relações humanas 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332" y="3717032"/>
            <a:ext cx="3645337" cy="273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02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395536" y="2420888"/>
            <a:ext cx="8280920" cy="889769"/>
          </a:xfrm>
        </p:spPr>
        <p:txBody>
          <a:bodyPr>
            <a:normAutofit/>
          </a:bodyPr>
          <a:lstStyle/>
          <a:p>
            <a:r>
              <a:rPr lang="pt-BR" b="1" dirty="0" smtClean="0"/>
              <a:t>É</a:t>
            </a:r>
            <a:r>
              <a:rPr lang="pt-BR" b="1" i="1" dirty="0" smtClean="0"/>
              <a:t>tica </a:t>
            </a:r>
            <a:r>
              <a:rPr lang="pt-BR" b="1" i="1" dirty="0"/>
              <a:t>orientada para os outros </a:t>
            </a:r>
            <a:r>
              <a:rPr lang="pt-BR" dirty="0"/>
              <a:t>tem por objetivo básico a valorização do outro para o benefício do todo. 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Ética nas relações humanas 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141458"/>
            <a:ext cx="3600400" cy="371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26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2800" dirty="0"/>
              <a:t>“A finalidade da empresa não é simplesmente a produção de benefícios, mas principalmente a própria existência da empresa como comunidade de pessoas que, de diversas maneiras, buscam a satisfação de suas necessidades fundamentais e constituem um grupo particular a serviço da sociedade inteira”. 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EMPRESA CIDADÃ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7424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51520" y="2531451"/>
            <a:ext cx="8640959" cy="20496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sz="2800" dirty="0"/>
              <a:t>Um velho pedreiro que construía casas estava pronto para se aposentar. </a:t>
            </a:r>
          </a:p>
          <a:p>
            <a:pPr marL="0" indent="0">
              <a:buNone/>
            </a:pPr>
            <a:r>
              <a:rPr lang="pt-BR" sz="2800" dirty="0"/>
              <a:t>Ele informou o chefe, do seu desejo de se aposentar e passar mais tempo com sua família. </a:t>
            </a:r>
            <a:endParaRPr lang="pt-BR" sz="2800" dirty="0" smtClean="0"/>
          </a:p>
          <a:p>
            <a:pPr marL="0" indent="0">
              <a:buNone/>
            </a:pPr>
            <a:r>
              <a:rPr lang="pt-BR" sz="2800" dirty="0"/>
              <a:t>Ele ainda disse que sentiria falta do salário, mas realmente queria se aposentar. 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60648"/>
            <a:ext cx="6192688" cy="115212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4221088"/>
            <a:ext cx="4032448" cy="217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109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51520" y="2420888"/>
            <a:ext cx="8640960" cy="158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A </a:t>
            </a:r>
            <a:r>
              <a:rPr lang="pt-BR" dirty="0"/>
              <a:t>empresa não seria muito afetada pela saída do pedreiro, mas o chefe estava triste em ver um bom funcionário partindo e ele pediu ao pedreiro para trabalhar em mais um projeto, como um favor.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60648"/>
            <a:ext cx="6192688" cy="115212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006" y="3789040"/>
            <a:ext cx="4104456" cy="272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56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872067" y="2420889"/>
            <a:ext cx="7408333" cy="1656184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/>
              <a:t>O </a:t>
            </a:r>
            <a:r>
              <a:rPr lang="pt-BR" dirty="0"/>
              <a:t>pedreiro não gostou, mas acabou concordando. Foi fácil ver que ele não estava entusiasmado com a </a:t>
            </a:r>
            <a:r>
              <a:rPr lang="pt-BR" dirty="0" smtClean="0"/>
              <a:t>ideia</a:t>
            </a:r>
            <a:r>
              <a:rPr lang="pt-BR" dirty="0"/>
              <a:t>. Assim ele prosseguiu fazendo um trabalho de segunda qualidade e usando materiais inadequados. 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3987127"/>
            <a:ext cx="2880320" cy="2513079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60648"/>
            <a:ext cx="6192688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164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51520" y="2204864"/>
            <a:ext cx="8712967" cy="1656184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Quando o pedreiro acabou, o chefe veio fazer a inspeção da casa construída. Depois de inspecioná-la, deu a chave da casa ao pedreiro e disse: </a:t>
            </a:r>
          </a:p>
          <a:p>
            <a:pPr marL="0" indent="0">
              <a:buNone/>
            </a:pPr>
            <a:r>
              <a:rPr lang="pt-BR" dirty="0"/>
              <a:t>- "Esta é a sua casa. Ela é o meu presente para você".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60648"/>
            <a:ext cx="6192688" cy="1152128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3789038"/>
            <a:ext cx="3744416" cy="29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29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Como o Pedreiro da história, </a:t>
            </a:r>
            <a:r>
              <a:rPr lang="pt-BR" dirty="0"/>
              <a:t>com surpresa, nós descobrimos que precisamos viver na casa que nós construímos. Se pudéssemos fazer tudo de novo, faríamos tudo diferente. </a:t>
            </a:r>
          </a:p>
          <a:p>
            <a:r>
              <a:rPr lang="pt-BR" dirty="0"/>
              <a:t>Mas não podemos voltar atrás. Tu és o pedreiro. Todo dia martelas pregos, ajustas tábuas e constróis paredes. </a:t>
            </a:r>
            <a:endParaRPr lang="pt-BR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60648"/>
            <a:ext cx="6192688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859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200" dirty="0"/>
              <a:t>"A vida é um projeto que você mesmo constrói". </a:t>
            </a:r>
          </a:p>
          <a:p>
            <a:r>
              <a:rPr lang="pt-BR" sz="3200" b="1" dirty="0"/>
              <a:t>Suas atitudes e escolhas de hoje estão construindo a "casa" em que você vai morar amanhã. </a:t>
            </a:r>
            <a:endParaRPr lang="pt-BR" sz="3200" dirty="0"/>
          </a:p>
          <a:p>
            <a:r>
              <a:rPr lang="pt-BR" sz="3200" b="1" dirty="0"/>
              <a:t>Portanto construa com sabedoria! </a:t>
            </a:r>
            <a:endParaRPr lang="pt-BR" sz="3200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60648"/>
            <a:ext cx="6192688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832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rma de Onda">
  <a:themeElements>
    <a:clrScheme name="Forma de Onda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Forma de Onda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orma de Onda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325</TotalTime>
  <Words>517</Words>
  <Application>Microsoft Office PowerPoint</Application>
  <PresentationFormat>Apresentação na tela (4:3)</PresentationFormat>
  <Paragraphs>36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Forma de Onda</vt:lpstr>
      <vt:lpstr>RESPONSABILIDADE SOCIAL</vt:lpstr>
      <vt:lpstr>MORAL E ÉTICA</vt:lpstr>
      <vt:lpstr>MORAL E ÉTICA</vt:lpstr>
      <vt:lpstr>ÉTICA</vt:lpstr>
      <vt:lpstr>MORAL, ÉTICA E CARÁTER</vt:lpstr>
      <vt:lpstr>Ética nas relações humanas </vt:lpstr>
      <vt:lpstr>Ética nas relações humanas </vt:lpstr>
      <vt:lpstr>EMPRESA CIDADÃ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User</dc:creator>
  <cp:lastModifiedBy>User</cp:lastModifiedBy>
  <cp:revision>33</cp:revision>
  <dcterms:created xsi:type="dcterms:W3CDTF">2014-04-18T14:40:06Z</dcterms:created>
  <dcterms:modified xsi:type="dcterms:W3CDTF">2014-04-19T14:34:49Z</dcterms:modified>
</cp:coreProperties>
</file>